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A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61"/>
  </p:normalViewPr>
  <p:slideViewPr>
    <p:cSldViewPr snapToGrid="0">
      <p:cViewPr varScale="1">
        <p:scale>
          <a:sx n="109" d="100"/>
          <a:sy n="109" d="100"/>
        </p:scale>
        <p:origin x="7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25EDD-AEB3-2BDB-E089-9E85A3280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AM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59523D1-C9DF-7ED2-1F0D-6C64848471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AM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3C6CF1-8AC5-ED7D-2C43-6B34EA7D9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8CC75-2743-C54E-A792-6C8729F6A30B}" type="datetimeFigureOut">
              <a:rPr lang="ru-AM" smtClean="0"/>
              <a:t>26.09.26</a:t>
            </a:fld>
            <a:endParaRPr lang="ru-AM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CB57F8-57AF-3B5E-53AA-FF2133745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AM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532099-A171-3581-B8F6-A73A21F67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D74EB-CFE8-974C-A2B7-26CFA85E3D6F}" type="slidenum">
              <a:rPr lang="ru-AM" smtClean="0"/>
              <a:t>‹#›</a:t>
            </a:fld>
            <a:endParaRPr lang="ru-AM"/>
          </a:p>
        </p:txBody>
      </p:sp>
    </p:spTree>
    <p:extLst>
      <p:ext uri="{BB962C8B-B14F-4D97-AF65-F5344CB8AC3E}">
        <p14:creationId xmlns:p14="http://schemas.microsoft.com/office/powerpoint/2010/main" val="673049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C2F2A1-51AD-FBA2-F57E-69536D404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AM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567EE8-9564-54F2-E199-971EEEA1D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AM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AC04B1-42FA-CF32-F027-0A3006A0C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8CC75-2743-C54E-A792-6C8729F6A30B}" type="datetimeFigureOut">
              <a:rPr lang="ru-AM" smtClean="0"/>
              <a:t>26.09.26</a:t>
            </a:fld>
            <a:endParaRPr lang="ru-AM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3A7723-49C9-CC13-74BD-BC812FFD7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AM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2578A8-C8F6-9DC0-74C8-C2C603D21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D74EB-CFE8-974C-A2B7-26CFA85E3D6F}" type="slidenum">
              <a:rPr lang="ru-AM" smtClean="0"/>
              <a:t>‹#›</a:t>
            </a:fld>
            <a:endParaRPr lang="ru-AM"/>
          </a:p>
        </p:txBody>
      </p:sp>
    </p:spTree>
    <p:extLst>
      <p:ext uri="{BB962C8B-B14F-4D97-AF65-F5344CB8AC3E}">
        <p14:creationId xmlns:p14="http://schemas.microsoft.com/office/powerpoint/2010/main" val="3002629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59DFF1-B227-EED9-77DF-AAE35545F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AM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FD75AC-BACE-30A8-5053-50B510DFB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36B59A-EB92-BA64-D788-CC68CA378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8CC75-2743-C54E-A792-6C8729F6A30B}" type="datetimeFigureOut">
              <a:rPr lang="ru-AM" smtClean="0"/>
              <a:t>26.09.26</a:t>
            </a:fld>
            <a:endParaRPr lang="ru-AM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DB6406-D4DD-D17A-3A42-A4D86A550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AM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69FC67-FDFC-FF90-49D8-748ED5BD0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D74EB-CFE8-974C-A2B7-26CFA85E3D6F}" type="slidenum">
              <a:rPr lang="ru-AM" smtClean="0"/>
              <a:t>‹#›</a:t>
            </a:fld>
            <a:endParaRPr lang="ru-AM"/>
          </a:p>
        </p:txBody>
      </p:sp>
    </p:spTree>
    <p:extLst>
      <p:ext uri="{BB962C8B-B14F-4D97-AF65-F5344CB8AC3E}">
        <p14:creationId xmlns:p14="http://schemas.microsoft.com/office/powerpoint/2010/main" val="1879520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4CB4A7-C43B-7D40-9981-D2C97E725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AM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D19F61-7ED6-EB1B-BE68-58DEDB15DB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AM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B2D63F3-C752-AFDE-88A8-A695D25BB7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AM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BC9523-4C96-2A50-0086-2F14C8B25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8CC75-2743-C54E-A792-6C8729F6A30B}" type="datetimeFigureOut">
              <a:rPr lang="ru-AM" smtClean="0"/>
              <a:t>26.09.26</a:t>
            </a:fld>
            <a:endParaRPr lang="ru-AM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4BEF6AB-4145-AF9E-2A67-3BCE32905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AM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FD869E-A962-27BE-1021-72831E3DE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D74EB-CFE8-974C-A2B7-26CFA85E3D6F}" type="slidenum">
              <a:rPr lang="ru-AM" smtClean="0"/>
              <a:t>‹#›</a:t>
            </a:fld>
            <a:endParaRPr lang="ru-AM"/>
          </a:p>
        </p:txBody>
      </p:sp>
    </p:spTree>
    <p:extLst>
      <p:ext uri="{BB962C8B-B14F-4D97-AF65-F5344CB8AC3E}">
        <p14:creationId xmlns:p14="http://schemas.microsoft.com/office/powerpoint/2010/main" val="1104878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3136A8-3DC3-C01A-AC51-2BF7A8940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AM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A013BF-29B5-2063-0B74-932BB32BA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0A2E99B-30D3-1056-2DC6-84653EB4C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AM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AC3AC56-2D64-1CF6-4D63-E963363F45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5381399-5CB1-03BE-E503-8D3B8F5C1D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AM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28192EF-F745-1068-7D6A-0D4E941CD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8CC75-2743-C54E-A792-6C8729F6A30B}" type="datetimeFigureOut">
              <a:rPr lang="ru-AM" smtClean="0"/>
              <a:t>26.09.26</a:t>
            </a:fld>
            <a:endParaRPr lang="ru-AM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17871CA-34C4-1FD0-7610-110B4A066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AM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D4987C8-2BBE-6ED3-CEC4-0BE48AA00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D74EB-CFE8-974C-A2B7-26CFA85E3D6F}" type="slidenum">
              <a:rPr lang="ru-AM" smtClean="0"/>
              <a:t>‹#›</a:t>
            </a:fld>
            <a:endParaRPr lang="ru-AM"/>
          </a:p>
        </p:txBody>
      </p:sp>
    </p:spTree>
    <p:extLst>
      <p:ext uri="{BB962C8B-B14F-4D97-AF65-F5344CB8AC3E}">
        <p14:creationId xmlns:p14="http://schemas.microsoft.com/office/powerpoint/2010/main" val="26193943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747726-A593-71EA-33FF-9CE8055C7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AM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04F330D-690A-F596-005E-8F21EC332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8CC75-2743-C54E-A792-6C8729F6A30B}" type="datetimeFigureOut">
              <a:rPr lang="ru-AM" smtClean="0"/>
              <a:t>26.09.26</a:t>
            </a:fld>
            <a:endParaRPr lang="ru-AM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F550E1C-051F-A2C3-C45A-015570127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AM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388A081-2F2E-22EA-30C4-A1BF09F61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D74EB-CFE8-974C-A2B7-26CFA85E3D6F}" type="slidenum">
              <a:rPr lang="ru-AM" smtClean="0"/>
              <a:t>‹#›</a:t>
            </a:fld>
            <a:endParaRPr lang="ru-AM"/>
          </a:p>
        </p:txBody>
      </p:sp>
    </p:spTree>
    <p:extLst>
      <p:ext uri="{BB962C8B-B14F-4D97-AF65-F5344CB8AC3E}">
        <p14:creationId xmlns:p14="http://schemas.microsoft.com/office/powerpoint/2010/main" val="1046268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3FA0268-73C4-D117-8CFA-F5C545686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8CC75-2743-C54E-A792-6C8729F6A30B}" type="datetimeFigureOut">
              <a:rPr lang="ru-AM" smtClean="0"/>
              <a:t>26.09.26</a:t>
            </a:fld>
            <a:endParaRPr lang="ru-AM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739790B-CEE1-3F96-64ED-138685EEE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AM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8D2D02-4AED-6C20-783F-A94F77ECA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D74EB-CFE8-974C-A2B7-26CFA85E3D6F}" type="slidenum">
              <a:rPr lang="ru-AM" smtClean="0"/>
              <a:t>‹#›</a:t>
            </a:fld>
            <a:endParaRPr lang="ru-AM"/>
          </a:p>
        </p:txBody>
      </p:sp>
    </p:spTree>
    <p:extLst>
      <p:ext uri="{BB962C8B-B14F-4D97-AF65-F5344CB8AC3E}">
        <p14:creationId xmlns:p14="http://schemas.microsoft.com/office/powerpoint/2010/main" val="747328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036BA6-BAC9-FACB-0B75-3C043597B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AM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64CA6E-8AEB-06E0-FA32-3C7566B65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AM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386E9C-4109-CA66-821B-0BDE9FD24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F076D27-FD05-1FE1-9ACB-7A1846BE4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8CC75-2743-C54E-A792-6C8729F6A30B}" type="datetimeFigureOut">
              <a:rPr lang="ru-AM" smtClean="0"/>
              <a:t>26.09.26</a:t>
            </a:fld>
            <a:endParaRPr lang="ru-AM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1CA297-8152-C891-C90F-51986DEA5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AM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93E353-AC30-3F89-16D9-28277FD94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D74EB-CFE8-974C-A2B7-26CFA85E3D6F}" type="slidenum">
              <a:rPr lang="ru-AM" smtClean="0"/>
              <a:t>‹#›</a:t>
            </a:fld>
            <a:endParaRPr lang="ru-AM"/>
          </a:p>
        </p:txBody>
      </p:sp>
    </p:spTree>
    <p:extLst>
      <p:ext uri="{BB962C8B-B14F-4D97-AF65-F5344CB8AC3E}">
        <p14:creationId xmlns:p14="http://schemas.microsoft.com/office/powerpoint/2010/main" val="3160069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9CB471-E38A-A1B1-9BEA-5274AC660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AM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EE7E6DE-7B48-C164-7A0B-1A5B11E86A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AM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782B47-3910-6414-08F9-890940024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981EC3A-24A6-E664-899A-FD6B37A2A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8CC75-2743-C54E-A792-6C8729F6A30B}" type="datetimeFigureOut">
              <a:rPr lang="ru-AM" smtClean="0"/>
              <a:t>26.09.26</a:t>
            </a:fld>
            <a:endParaRPr lang="ru-AM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F10EA89-25E1-F070-79C6-2A2B46824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AM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1D392C2-94F1-AD20-C5A3-0A9A76FFC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D74EB-CFE8-974C-A2B7-26CFA85E3D6F}" type="slidenum">
              <a:rPr lang="ru-AM" smtClean="0"/>
              <a:t>‹#›</a:t>
            </a:fld>
            <a:endParaRPr lang="ru-AM"/>
          </a:p>
        </p:txBody>
      </p:sp>
    </p:spTree>
    <p:extLst>
      <p:ext uri="{BB962C8B-B14F-4D97-AF65-F5344CB8AC3E}">
        <p14:creationId xmlns:p14="http://schemas.microsoft.com/office/powerpoint/2010/main" val="427531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AB3B95-869B-1AFA-D161-5757E73DD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AM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2CA0F1B-8904-7982-098B-6465D9EAF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AM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8C5F95-45AD-3BB8-D586-B13B6BD75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8CC75-2743-C54E-A792-6C8729F6A30B}" type="datetimeFigureOut">
              <a:rPr lang="ru-AM" smtClean="0"/>
              <a:t>26.09.26</a:t>
            </a:fld>
            <a:endParaRPr lang="ru-AM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340AFF-9C14-5C45-3CC8-67CB4EA24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AM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01ABC8-4257-A678-23C9-241FB493B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D74EB-CFE8-974C-A2B7-26CFA85E3D6F}" type="slidenum">
              <a:rPr lang="ru-AM" smtClean="0"/>
              <a:t>‹#›</a:t>
            </a:fld>
            <a:endParaRPr lang="ru-AM"/>
          </a:p>
        </p:txBody>
      </p:sp>
    </p:spTree>
    <p:extLst>
      <p:ext uri="{BB962C8B-B14F-4D97-AF65-F5344CB8AC3E}">
        <p14:creationId xmlns:p14="http://schemas.microsoft.com/office/powerpoint/2010/main" val="41406871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38CAEDE-9B21-00FF-D7FF-B9D82A41A1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AM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2866178-1B07-0B46-A5EE-9D8CA6803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AM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4921A6-80CE-1344-9A1C-7B6CAFEEF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8CC75-2743-C54E-A792-6C8729F6A30B}" type="datetimeFigureOut">
              <a:rPr lang="ru-AM" smtClean="0"/>
              <a:t>26.09.26</a:t>
            </a:fld>
            <a:endParaRPr lang="ru-AM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72347E-DF51-B72F-0D5F-11CAF7D35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AM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C41453-E2DF-D9B0-E107-DEDBCAA37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D74EB-CFE8-974C-A2B7-26CFA85E3D6F}" type="slidenum">
              <a:rPr lang="ru-AM" smtClean="0"/>
              <a:t>‹#›</a:t>
            </a:fld>
            <a:endParaRPr lang="ru-AM"/>
          </a:p>
        </p:txBody>
      </p:sp>
    </p:spTree>
    <p:extLst>
      <p:ext uri="{BB962C8B-B14F-4D97-AF65-F5344CB8AC3E}">
        <p14:creationId xmlns:p14="http://schemas.microsoft.com/office/powerpoint/2010/main" val="3581360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93FC2E-AAF9-F79E-CC60-F6ABB155B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AM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B418D79-F9B3-166D-0DAF-25EF70648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AM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9A5E6C-8101-B15D-AD79-65A503E40B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F8CC75-2743-C54E-A792-6C8729F6A30B}" type="datetimeFigureOut">
              <a:rPr lang="ru-AM" smtClean="0"/>
              <a:t>26.09.26</a:t>
            </a:fld>
            <a:endParaRPr lang="ru-AM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9A93E1-B56B-6E4A-5D80-604F1FF10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AM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D3EF21-E75F-3D22-DEC6-B10B90E393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3D74EB-CFE8-974C-A2B7-26CFA85E3D6F}" type="slidenum">
              <a:rPr lang="ru-AM" smtClean="0"/>
              <a:t>‹#›</a:t>
            </a:fld>
            <a:endParaRPr lang="ru-AM"/>
          </a:p>
        </p:txBody>
      </p:sp>
    </p:spTree>
    <p:extLst>
      <p:ext uri="{BB962C8B-B14F-4D97-AF65-F5344CB8AC3E}">
        <p14:creationId xmlns:p14="http://schemas.microsoft.com/office/powerpoint/2010/main" val="1543147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A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38A5F2-E6B2-B718-3A51-2B44FEE892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TERRARIA RAG-SYSTEM</a:t>
            </a:r>
            <a:endParaRPr lang="ru-AM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3FC42BF-1EF9-7ACF-9150-23107A2B0A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Bobrovskij</a:t>
            </a:r>
            <a:r>
              <a:rPr lang="en-US" sz="2800" dirty="0"/>
              <a:t> K., </a:t>
            </a:r>
            <a:r>
              <a:rPr lang="en-US" sz="2800" dirty="0" err="1"/>
              <a:t>Epifanov</a:t>
            </a:r>
            <a:r>
              <a:rPr lang="en-US" sz="2800" dirty="0"/>
              <a:t> V., </a:t>
            </a:r>
            <a:r>
              <a:rPr lang="en-US" sz="2800" dirty="0" err="1"/>
              <a:t>Bozoyan</a:t>
            </a:r>
            <a:r>
              <a:rPr lang="en-US" sz="2800" dirty="0"/>
              <a:t> O. from 8I32</a:t>
            </a:r>
            <a:endParaRPr lang="ru-AM" sz="2800" dirty="0"/>
          </a:p>
        </p:txBody>
      </p:sp>
    </p:spTree>
    <p:extLst>
      <p:ext uri="{BB962C8B-B14F-4D97-AF65-F5344CB8AC3E}">
        <p14:creationId xmlns:p14="http://schemas.microsoft.com/office/powerpoint/2010/main" val="23174291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E7639E-F49C-3FB5-2F5B-1B88B3B42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TECHNOLOGY STACK</a:t>
            </a:r>
            <a:endParaRPr lang="ru-AM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D73A7C-53B1-1BAD-E82F-8008CDF1C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26" y="1594129"/>
            <a:ext cx="114073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400" b="1" dirty="0"/>
              <a:t>Parsing</a:t>
            </a:r>
            <a:r>
              <a:rPr lang="en-US" sz="2400" dirty="0"/>
              <a:t>: requests + BeautifulSoup4 (bs4)</a:t>
            </a:r>
            <a:br>
              <a:rPr lang="en-US" sz="2400" dirty="0"/>
            </a:br>
            <a:r>
              <a:rPr lang="en-US" sz="2400" b="1" dirty="0"/>
              <a:t>Preprocessing</a:t>
            </a:r>
            <a:r>
              <a:rPr lang="ru-RU" sz="2400" b="1" dirty="0"/>
              <a:t> </a:t>
            </a:r>
            <a:r>
              <a:rPr lang="en-US" sz="2400" b="1" dirty="0"/>
              <a:t>&amp;</a:t>
            </a:r>
            <a:r>
              <a:rPr lang="ru-RU" sz="2400" b="1" dirty="0"/>
              <a:t> </a:t>
            </a:r>
            <a:r>
              <a:rPr lang="en-US" sz="2400" b="1" dirty="0"/>
              <a:t>chunking</a:t>
            </a:r>
            <a:r>
              <a:rPr lang="ru-RU" sz="2400" dirty="0"/>
              <a:t>: </a:t>
            </a:r>
            <a:r>
              <a:rPr lang="en-US" sz="2400" dirty="0" err="1"/>
              <a:t>langchain</a:t>
            </a:r>
            <a:r>
              <a:rPr lang="en-US" sz="2400" dirty="0"/>
              <a:t>-text-splitters</a:t>
            </a:r>
            <a:br>
              <a:rPr lang="en-US" sz="2400" dirty="0"/>
            </a:br>
            <a:r>
              <a:rPr lang="en-US" sz="2400" b="1" dirty="0"/>
              <a:t>OSS</a:t>
            </a:r>
            <a:r>
              <a:rPr lang="en-US" sz="2400" dirty="0"/>
              <a:t>: </a:t>
            </a:r>
            <a:r>
              <a:rPr lang="en-US" sz="2400" dirty="0" err="1"/>
              <a:t>intfloat</a:t>
            </a:r>
            <a:r>
              <a:rPr lang="en-US" sz="2400" dirty="0"/>
              <a:t>/multilingual-e5-small</a:t>
            </a:r>
            <a:br>
              <a:rPr lang="en-US" sz="2400" dirty="0"/>
            </a:br>
            <a:r>
              <a:rPr lang="en-US" sz="2400" b="1" dirty="0"/>
              <a:t>Vector DB</a:t>
            </a:r>
            <a:r>
              <a:rPr lang="ru-RU" sz="2400" dirty="0"/>
              <a:t>:</a:t>
            </a:r>
            <a:r>
              <a:rPr lang="en-US" sz="2400" dirty="0"/>
              <a:t> </a:t>
            </a:r>
            <a:r>
              <a:rPr lang="en-US" sz="2400" dirty="0" err="1"/>
              <a:t>Qdrant</a:t>
            </a:r>
            <a:br>
              <a:rPr lang="en-US" sz="2400" dirty="0"/>
            </a:br>
            <a:r>
              <a:rPr lang="en-US" sz="2400" b="1" dirty="0"/>
              <a:t>LLM</a:t>
            </a:r>
            <a:r>
              <a:rPr lang="en-US" sz="2400" dirty="0"/>
              <a:t>: Mistral AI</a:t>
            </a:r>
            <a:br>
              <a:rPr lang="en-US" sz="2400" dirty="0"/>
            </a:br>
            <a:r>
              <a:rPr lang="en-US" sz="2400" b="1" dirty="0"/>
              <a:t>Framework</a:t>
            </a:r>
            <a:r>
              <a:rPr lang="ru-RU" sz="2400" dirty="0"/>
              <a:t>: </a:t>
            </a:r>
            <a:r>
              <a:rPr lang="en-US" sz="2400" dirty="0" err="1"/>
              <a:t>LangChain</a:t>
            </a:r>
            <a:r>
              <a:rPr lang="en-US" sz="2400" dirty="0"/>
              <a:t> (LCEL)</a:t>
            </a:r>
            <a:endParaRPr lang="ru-AM" sz="2400" dirty="0"/>
          </a:p>
        </p:txBody>
      </p:sp>
    </p:spTree>
    <p:extLst>
      <p:ext uri="{BB962C8B-B14F-4D97-AF65-F5344CB8AC3E}">
        <p14:creationId xmlns:p14="http://schemas.microsoft.com/office/powerpoint/2010/main" val="19313014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361C48-2000-C99D-612F-46A67FC61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GOLDEN SET</a:t>
            </a:r>
            <a:endParaRPr lang="ru-AM" b="1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B088E2B8-567B-7BB0-6DFC-6745F1110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867261"/>
              </p:ext>
            </p:extLst>
          </p:nvPr>
        </p:nvGraphicFramePr>
        <p:xfrm>
          <a:off x="597877" y="1430215"/>
          <a:ext cx="11183815" cy="5149938"/>
        </p:xfrm>
        <a:graphic>
          <a:graphicData uri="http://schemas.openxmlformats.org/drawingml/2006/table">
            <a:tbl>
              <a:tblPr/>
              <a:tblGrid>
                <a:gridCol w="963277">
                  <a:extLst>
                    <a:ext uri="{9D8B030D-6E8A-4147-A177-3AD203B41FA5}">
                      <a16:colId xmlns:a16="http://schemas.microsoft.com/office/drawing/2014/main" val="20690344"/>
                    </a:ext>
                  </a:extLst>
                </a:gridCol>
                <a:gridCol w="10220538">
                  <a:extLst>
                    <a:ext uri="{9D8B030D-6E8A-4147-A177-3AD203B41FA5}">
                      <a16:colId xmlns:a16="http://schemas.microsoft.com/office/drawing/2014/main" val="226962140"/>
                    </a:ext>
                  </a:extLst>
                </a:gridCol>
              </a:tblGrid>
              <a:tr h="550985">
                <a:tc>
                  <a:txBody>
                    <a:bodyPr/>
                    <a:lstStyle/>
                    <a:p>
                      <a:pPr algn="ctr" rtl="0" fontAlgn="b"/>
                      <a:r>
                        <a:rPr lang="ru-AM" b="1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>
                          <a:effectLst/>
                        </a:rPr>
                        <a:t>How do you summon Skeletron at night using the Old Man?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928178"/>
                  </a:ext>
                </a:extLst>
              </a:tr>
              <a:tr h="504092">
                <a:tc>
                  <a:txBody>
                    <a:bodyPr/>
                    <a:lstStyle/>
                    <a:p>
                      <a:pPr algn="ctr" rtl="0" fontAlgn="b"/>
                      <a:r>
                        <a:rPr lang="ru-AM" b="1" dirty="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dirty="0">
                          <a:effectLst/>
                        </a:rPr>
                        <a:t>In the second phase, how is the fight with Spazmatism different from Retinazer?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388680"/>
                  </a:ext>
                </a:extLst>
              </a:tr>
              <a:tr h="346488">
                <a:tc>
                  <a:txBody>
                    <a:bodyPr/>
                    <a:lstStyle/>
                    <a:p>
                      <a:pPr algn="ctr" rtl="0" fontAlgn="b"/>
                      <a:r>
                        <a:rPr lang="ru-AM" b="1" dirty="0">
                          <a:effectLst/>
                        </a:rPr>
                        <a:t>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>
                          <a:effectLst/>
                        </a:rPr>
                        <a:t>How does The Destroyer create Probes during the fight?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680777"/>
                  </a:ext>
                </a:extLst>
              </a:tr>
              <a:tr h="346488">
                <a:tc>
                  <a:txBody>
                    <a:bodyPr/>
                    <a:lstStyle/>
                    <a:p>
                      <a:pPr algn="ctr" rtl="0" fontAlgn="b"/>
                      <a:r>
                        <a:rPr lang="ru-AM" b="1" dirty="0">
                          <a:effectLst/>
                        </a:rPr>
                        <a:t>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>
                          <a:effectLst/>
                        </a:rPr>
                        <a:t>What special bait do you need to summon Duke Fishron?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271860"/>
                  </a:ext>
                </a:extLst>
              </a:tr>
              <a:tr h="346488">
                <a:tc>
                  <a:txBody>
                    <a:bodyPr/>
                    <a:lstStyle/>
                    <a:p>
                      <a:pPr algn="ctr" rtl="0" fontAlgn="b"/>
                      <a:r>
                        <a:rPr lang="ru-AM" b="1" dirty="0">
                          <a:effectLst/>
                        </a:rPr>
                        <a:t>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>
                          <a:effectLst/>
                        </a:rPr>
                        <a:t>Why is fighting Empress of Light in the day so dangerous?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93353"/>
                  </a:ext>
                </a:extLst>
              </a:tr>
              <a:tr h="519706">
                <a:tc>
                  <a:txBody>
                    <a:bodyPr/>
                    <a:lstStyle/>
                    <a:p>
                      <a:pPr algn="ctr" rtl="0" fontAlgn="b"/>
                      <a:r>
                        <a:rPr lang="ru-AM" b="1" dirty="0">
                          <a:effectLst/>
                        </a:rPr>
                        <a:t>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>
                          <a:effectLst/>
                        </a:rPr>
                        <a:t>What three items do you combine to make the Terra Blade?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832019"/>
                  </a:ext>
                </a:extLst>
              </a:tr>
              <a:tr h="583525">
                <a:tc>
                  <a:txBody>
                    <a:bodyPr/>
                    <a:lstStyle/>
                    <a:p>
                      <a:pPr algn="ctr" rtl="0" fontAlgn="b"/>
                      <a:r>
                        <a:rPr lang="ru-AM" b="1" dirty="0">
                          <a:effectLst/>
                        </a:rPr>
                        <a:t>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>
                          <a:effectLst/>
                        </a:rPr>
                        <a:t>Which five accessories do you combine to make the PDA?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660510"/>
                  </a:ext>
                </a:extLst>
              </a:tr>
              <a:tr h="650722">
                <a:tc>
                  <a:txBody>
                    <a:bodyPr/>
                    <a:lstStyle/>
                    <a:p>
                      <a:pPr algn="ctr" rtl="0" fontAlgn="b"/>
                      <a:r>
                        <a:rPr lang="ru-AM" b="1" dirty="0">
                          <a:effectLst/>
                        </a:rPr>
                        <a:t>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dirty="0">
                          <a:effectLst/>
                        </a:rPr>
                        <a:t>What is the drop chance of the Rod of Discord from Chaos Elementals? 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927103"/>
                  </a:ext>
                </a:extLst>
              </a:tr>
              <a:tr h="650722">
                <a:tc>
                  <a:txBody>
                    <a:bodyPr/>
                    <a:lstStyle/>
                    <a:p>
                      <a:pPr algn="ctr" rtl="0" fontAlgn="b"/>
                      <a:r>
                        <a:rPr lang="ru-AM" b="1" dirty="0">
                          <a:effectLst/>
                        </a:rPr>
                        <a:t>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>
                          <a:effectLst/>
                        </a:rPr>
                        <a:t>What special thing does the Void Bag do with your inventory?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473467"/>
                  </a:ext>
                </a:extLst>
              </a:tr>
              <a:tr h="650722">
                <a:tc>
                  <a:txBody>
                    <a:bodyPr/>
                    <a:lstStyle/>
                    <a:p>
                      <a:pPr algn="ctr" rtl="0" fontAlgn="b"/>
                      <a:r>
                        <a:rPr lang="ru-AM" b="1" dirty="0">
                          <a:effectLst/>
                        </a:rPr>
                        <a:t>10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dirty="0">
                          <a:effectLst/>
                        </a:rPr>
                        <a:t>Name five debuffs that the Ankh Charm makes you immune to.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664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7457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B14F4-468E-92F1-D82E-2930164CC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07BD41-7F19-5DE8-7824-159BE73FC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GOLDEN SET</a:t>
            </a:r>
            <a:endParaRPr lang="ru-AM" b="1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9F6182B-D2DC-017B-BFFD-074FCF46C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491801"/>
              </p:ext>
            </p:extLst>
          </p:nvPr>
        </p:nvGraphicFramePr>
        <p:xfrm>
          <a:off x="597877" y="1430215"/>
          <a:ext cx="11183815" cy="5149938"/>
        </p:xfrm>
        <a:graphic>
          <a:graphicData uri="http://schemas.openxmlformats.org/drawingml/2006/table">
            <a:tbl>
              <a:tblPr/>
              <a:tblGrid>
                <a:gridCol w="963277">
                  <a:extLst>
                    <a:ext uri="{9D8B030D-6E8A-4147-A177-3AD203B41FA5}">
                      <a16:colId xmlns:a16="http://schemas.microsoft.com/office/drawing/2014/main" val="20690344"/>
                    </a:ext>
                  </a:extLst>
                </a:gridCol>
                <a:gridCol w="10220538">
                  <a:extLst>
                    <a:ext uri="{9D8B030D-6E8A-4147-A177-3AD203B41FA5}">
                      <a16:colId xmlns:a16="http://schemas.microsoft.com/office/drawing/2014/main" val="226962140"/>
                    </a:ext>
                  </a:extLst>
                </a:gridCol>
              </a:tblGrid>
              <a:tr h="550985">
                <a:tc>
                  <a:txBody>
                    <a:bodyPr/>
                    <a:lstStyle/>
                    <a:p>
                      <a:pPr algn="ctr" rtl="0" fontAlgn="b"/>
                      <a:r>
                        <a:rPr lang="ru-AM" b="1" dirty="0">
                          <a:effectLst/>
                        </a:rPr>
                        <a:t>11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dirty="0">
                          <a:effectLst/>
                        </a:rPr>
                        <a:t>What must happen before a Solar Eclipse can start?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928178"/>
                  </a:ext>
                </a:extLst>
              </a:tr>
              <a:tr h="504092">
                <a:tc>
                  <a:txBody>
                    <a:bodyPr/>
                    <a:lstStyle/>
                    <a:p>
                      <a:pPr algn="ctr" rtl="0" fontAlgn="b"/>
                      <a:r>
                        <a:rPr lang="ru-AM" b="1" dirty="0">
                          <a:effectLst/>
                        </a:rPr>
                        <a:t>12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>
                          <a:effectLst/>
                        </a:rPr>
                        <a:t>How are points used in the Pumpkin Moon event?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388680"/>
                  </a:ext>
                </a:extLst>
              </a:tr>
              <a:tr h="346488">
                <a:tc>
                  <a:txBody>
                    <a:bodyPr/>
                    <a:lstStyle/>
                    <a:p>
                      <a:pPr algn="ctr" rtl="0" fontAlgn="b"/>
                      <a:r>
                        <a:rPr lang="ru-AM" b="1" dirty="0">
                          <a:effectLst/>
                        </a:rPr>
                        <a:t>13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dirty="0">
                          <a:effectLst/>
                        </a:rPr>
                        <a:t>What boss must you defeat before Biome Keys can drop?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680777"/>
                  </a:ext>
                </a:extLst>
              </a:tr>
              <a:tr h="346488">
                <a:tc>
                  <a:txBody>
                    <a:bodyPr/>
                    <a:lstStyle/>
                    <a:p>
                      <a:pPr algn="ctr" rtl="0" fontAlgn="b"/>
                      <a:r>
                        <a:rPr lang="ru-AM" b="1" dirty="0">
                          <a:effectLst/>
                        </a:rPr>
                        <a:t>14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>
                          <a:effectLst/>
                        </a:rPr>
                        <a:t>How do you summon the Wall of Flesh in the Underworld?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271860"/>
                  </a:ext>
                </a:extLst>
              </a:tr>
              <a:tr h="346488">
                <a:tc>
                  <a:txBody>
                    <a:bodyPr/>
                    <a:lstStyle/>
                    <a:p>
                      <a:pPr algn="ctr" rtl="0" fontAlgn="b"/>
                      <a:r>
                        <a:rPr lang="ru-AM" b="1" dirty="0">
                          <a:effectLst/>
                        </a:rPr>
                        <a:t>15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>
                          <a:effectLst/>
                        </a:rPr>
                        <a:t>What does Shimmer in the Aether do to items and town NPCs?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93353"/>
                  </a:ext>
                </a:extLst>
              </a:tr>
              <a:tr h="519706">
                <a:tc>
                  <a:txBody>
                    <a:bodyPr/>
                    <a:lstStyle/>
                    <a:p>
                      <a:pPr algn="ctr" rtl="0" fontAlgn="b"/>
                      <a:r>
                        <a:rPr lang="ru-AM" b="1" dirty="0">
                          <a:effectLst/>
                        </a:rPr>
                        <a:t>16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>
                          <a:effectLst/>
                        </a:rPr>
                        <a:t>What two important jobs does the Guide have for the player?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832019"/>
                  </a:ext>
                </a:extLst>
              </a:tr>
              <a:tr h="583525">
                <a:tc>
                  <a:txBody>
                    <a:bodyPr/>
                    <a:lstStyle/>
                    <a:p>
                      <a:pPr algn="ctr" rtl="0" fontAlgn="b"/>
                      <a:r>
                        <a:rPr lang="ru-AM" b="1" dirty="0">
                          <a:effectLst/>
                        </a:rPr>
                        <a:t>17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>
                          <a:effectLst/>
                        </a:rPr>
                        <a:t>What does the Steampunker sell?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660510"/>
                  </a:ext>
                </a:extLst>
              </a:tr>
              <a:tr h="650722">
                <a:tc>
                  <a:txBody>
                    <a:bodyPr/>
                    <a:lstStyle/>
                    <a:p>
                      <a:pPr algn="ctr" rtl="0" fontAlgn="b"/>
                      <a:r>
                        <a:rPr lang="ru-AM" b="1" dirty="0">
                          <a:effectLst/>
                        </a:rPr>
                        <a:t>18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>
                          <a:effectLst/>
                        </a:rPr>
                        <a:t>What world information does the Dryad give?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927103"/>
                  </a:ext>
                </a:extLst>
              </a:tr>
              <a:tr h="650722">
                <a:tc>
                  <a:txBody>
                    <a:bodyPr/>
                    <a:lstStyle/>
                    <a:p>
                      <a:pPr algn="ctr" rtl="0" fontAlgn="b"/>
                      <a:r>
                        <a:rPr lang="ru-AM" b="1" dirty="0">
                          <a:effectLst/>
                        </a:rPr>
                        <a:t>19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>
                          <a:effectLst/>
                        </a:rPr>
                        <a:t>What rules must a room follow to be valid housing for an NPC? 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473467"/>
                  </a:ext>
                </a:extLst>
              </a:tr>
              <a:tr h="650722">
                <a:tc>
                  <a:txBody>
                    <a:bodyPr/>
                    <a:lstStyle/>
                    <a:p>
                      <a:pPr algn="ctr" rtl="0" fontAlgn="b"/>
                      <a:r>
                        <a:rPr lang="ru-AM" b="1" dirty="0">
                          <a:effectLst/>
                        </a:rPr>
                        <a:t>20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dirty="0">
                          <a:effectLst/>
                        </a:rPr>
                        <a:t>How does NPC happiness change buy prices and sell prices?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664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80179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1D8FA-B905-B194-7964-AA47247D3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02299D-02B0-D4D5-CC0A-59CF3EAC6E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TERRARIA RAG-SYSTEM</a:t>
            </a:r>
            <a:endParaRPr lang="ru-AM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0C0C39-B163-F4B5-56B6-A3A51B671F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Bobrovskij</a:t>
            </a:r>
            <a:r>
              <a:rPr lang="en-US" sz="2800" dirty="0"/>
              <a:t> K., </a:t>
            </a:r>
            <a:r>
              <a:rPr lang="en-US" sz="2800" dirty="0" err="1"/>
              <a:t>Epifanov</a:t>
            </a:r>
            <a:r>
              <a:rPr lang="en-US" sz="2800" dirty="0"/>
              <a:t> V., </a:t>
            </a:r>
            <a:r>
              <a:rPr lang="en-US" sz="2800" dirty="0" err="1"/>
              <a:t>Bozoyan</a:t>
            </a:r>
            <a:r>
              <a:rPr lang="en-US" sz="2800" dirty="0"/>
              <a:t> O. from 8I32</a:t>
            </a:r>
            <a:endParaRPr lang="ru-AM" sz="2800" dirty="0"/>
          </a:p>
        </p:txBody>
      </p:sp>
    </p:spTree>
    <p:extLst>
      <p:ext uri="{BB962C8B-B14F-4D97-AF65-F5344CB8AC3E}">
        <p14:creationId xmlns:p14="http://schemas.microsoft.com/office/powerpoint/2010/main" val="2595648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317</Words>
  <Application>Microsoft Macintosh PowerPoint</Application>
  <PresentationFormat>Широкоэкранный</PresentationFormat>
  <Paragraphs>48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Тема Office</vt:lpstr>
      <vt:lpstr>TERRARIA RAG-SYSTEM</vt:lpstr>
      <vt:lpstr>TECHNOLOGY STACK</vt:lpstr>
      <vt:lpstr>GOLDEN SET</vt:lpstr>
      <vt:lpstr>GOLDEN SET</vt:lpstr>
      <vt:lpstr>TERRARIA RAG-SYSTEM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Ovsepus00</dc:creator>
  <cp:lastModifiedBy>Ovsepus00</cp:lastModifiedBy>
  <cp:revision>3</cp:revision>
  <dcterms:created xsi:type="dcterms:W3CDTF">2026-09-25T17:37:55Z</dcterms:created>
  <dcterms:modified xsi:type="dcterms:W3CDTF">2026-09-25T18:00:35Z</dcterms:modified>
</cp:coreProperties>
</file>